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4.xml"/><Relationship Id="rId4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ose2026-market.github.io/gemelo-500ha-la-calera/" TargetMode="Externa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A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ociedad-rural-san-lu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01168"/>
            <a:ext cx="658368" cy="65836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6583680" cy="384048"/>
          </a:xfrm>
          <a:prstGeom prst="roundRect">
            <a:avLst>
              <a:gd name="adj" fmla="val 8000"/>
            </a:avLst>
          </a:prstGeom>
          <a:solidFill>
            <a:srgbClr val="08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C4A35A"/>
                </a:solidFill>
                <a:latin typeface="Calibri"/>
              </a:rPr>
              <a:t>SOCIEDAD RURAL DE SAN LUIS  ·  SERVICIO AL PRODUCTOR  ·  DPTO. BELGRANO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7498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Su campo.
En el mapa.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6035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7F1E4"/>
                </a:solidFill>
                <a:latin typeface="Georgia"/>
              </a:rPr>
              <a:t>No es un papel. Es su lote en el satélite, con suelo INTA, relieve y aguadas, para decidir.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6126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F7F1E4"/>
                </a:solidFill>
                <a:latin typeface="Calibri"/>
              </a:rPr>
              <a:t>▸  Se abre un campo de ejemplo en Belgrano. Después, el del productor.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7F1E4"/>
                </a:solidFill>
                <a:latin typeface="Calibri"/>
              </a:rPr>
              <a:t>▸  Belgrano: 53.117 bovinos · 94,6 % de los campos son pecuarios.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7F1E4"/>
                </a:solidFill>
                <a:latin typeface="Calibri"/>
              </a:rPr>
              <a:t>▸  Hoy la zona rinde ~6 kg carne/ha. Con manejo, se puede duplicar.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7F1E4"/>
                </a:solidFill>
                <a:latin typeface="Calibri"/>
              </a:rPr>
              <a:t>▸  Sin desmonte. Sin recortar el agua de bebida. No es soja.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051560"/>
            <a:ext cx="4937760" cy="4617720"/>
          </a:xfrm>
          <a:prstGeom prst="roundRect">
            <a:avLst>
              <a:gd name="adj" fmla="val 4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rsl-vaca-ternero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1170432"/>
            <a:ext cx="4700016" cy="4069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528523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C4A35A"/>
                </a:solidFill>
                <a:latin typeface="Calibri"/>
              </a:rPr>
              <a:t>Hereford con ternero  ·  Sociedad Rural de San Luis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10515600" y="6327648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83A1C"/>
                </a:solidFill>
                <a:latin typeface="Calibri"/>
              </a:rPr>
              <a:t>Siguiente 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A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ociedad-rural-san-lu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01168"/>
            <a:ext cx="658368" cy="65836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6583680" cy="384048"/>
          </a:xfrm>
          <a:prstGeom prst="roundRect">
            <a:avLst>
              <a:gd name="adj" fmla="val 8000"/>
            </a:avLst>
          </a:prstGeom>
          <a:solidFill>
            <a:srgbClr val="08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C4A35A"/>
                </a:solidFill>
                <a:latin typeface="Calibri"/>
              </a:rPr>
              <a:t>INTA REGIÓN III  ·  INICIAL  ·  MEJORANDO  ·  IDEAL  ·  AÑO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7498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Tres situaciones.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7F1E4"/>
                </a:solidFill>
                <a:latin typeface="Calibri"/>
              </a:rPr>
              <a:t>El invierno limita cuántos animales se mantienen. Números INTA de zona; en su campo se lee ese lote.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3566160" cy="352044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46304"/>
          <a:lstStyle/>
          <a:p>
            <a:pPr algn="ctr"/>
            <a:r>
              <a:rPr sz="1200" b="1">
                <a:solidFill>
                  <a:srgbClr val="0D5C2C"/>
                </a:solidFill>
                <a:latin typeface="Calibri"/>
              </a:rPr>
              <a:t>INICIAL</a:t>
            </a:r>
          </a:p>
          <a:p>
            <a:pPr>
              <a:spcBef>
                <a:spcPts val="1000"/>
              </a:spcBef>
            </a:pPr>
            <a:r>
              <a:rPr sz="2600" b="1">
                <a:solidFill>
                  <a:srgbClr val="083A1C"/>
                </a:solidFill>
                <a:latin typeface="Georgia"/>
              </a:rPr>
              <a:t>12,6 ha/EV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D2016"/>
                </a:solidFill>
                <a:latin typeface="Calibri"/>
              </a:rPr>
              <a:t>Destete ~62 %
~5,9 kg carne/ha
Cómo está hoy el lote.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65960"/>
            <a:ext cx="3566160" cy="352044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46304"/>
          <a:lstStyle/>
          <a:p>
            <a:pPr algn="ctr"/>
            <a:r>
              <a:rPr sz="1200" b="1">
                <a:solidFill>
                  <a:srgbClr val="0D5C2C"/>
                </a:solidFill>
                <a:latin typeface="Calibri"/>
              </a:rPr>
              <a:t>MEJORANDO</a:t>
            </a:r>
          </a:p>
          <a:p>
            <a:pPr>
              <a:spcBef>
                <a:spcPts val="1000"/>
              </a:spcBef>
            </a:pPr>
            <a:r>
              <a:rPr sz="2600" b="1">
                <a:solidFill>
                  <a:srgbClr val="083A1C"/>
                </a:solidFill>
                <a:latin typeface="Georgia"/>
              </a:rPr>
              <a:t>10 ha/EV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D2016"/>
                </a:solidFill>
                <a:latin typeface="Calibri"/>
              </a:rPr>
              <a:t>Destete ~85 %
~12 kg/ha
Rotar, dividir, aguada cerca.
Sembrar 1–2 ha. Sin desmonte.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965960"/>
            <a:ext cx="3566160" cy="352044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46304"/>
          <a:lstStyle/>
          <a:p>
            <a:pPr algn="ctr"/>
            <a:r>
              <a:rPr sz="1200" b="1">
                <a:solidFill>
                  <a:srgbClr val="0D5C2C"/>
                </a:solidFill>
                <a:latin typeface="Calibri"/>
              </a:rPr>
              <a:t>IDEAL</a:t>
            </a:r>
          </a:p>
          <a:p>
            <a:pPr>
              <a:spcBef>
                <a:spcPts val="1000"/>
              </a:spcBef>
            </a:pPr>
            <a:r>
              <a:rPr sz="2600" b="1">
                <a:solidFill>
                  <a:srgbClr val="083A1C"/>
                </a:solidFill>
                <a:latin typeface="Georgia"/>
              </a:rPr>
              <a:t>Techo INTA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D2016"/>
                </a:solidFill>
                <a:latin typeface="Calibri"/>
              </a:rPr>
              <a:t>Destete ~90 % en bajo
En loma no pasa de Mejorando.
Buffel solo si OTBN lo permite.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96128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4A35A"/>
                </a:solidFill>
                <a:latin typeface="Calibri"/>
              </a:rPr>
              <a:t>No se recorta el agua de bebida.  ·  No se desmonta.  ·  No es soja.  ·  Círculo continuo 400 m = cría; de puntos 800 m = adulta.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457200" y="6327648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83A1C"/>
                </a:solidFill>
                <a:latin typeface="Calibri"/>
              </a:rPr>
              <a:t>←  Atrás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10515600" y="6327648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83A1C"/>
                </a:solidFill>
                <a:latin typeface="Calibri"/>
              </a:rPr>
              <a:t>Siguiente  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0" fill="hold">
                      <p:stCondLst>
                        <p:cond delay="indefinite"/>
                      </p:stCondLst>
                      <p:childTnLst>
                        <p:par>
                          <p:cTn id="481" fill="hold">
                            <p:stCondLst>
                              <p:cond delay="0"/>
                            </p:stCondLst>
                            <p:childTnLst>
                              <p:par>
                                <p:cTn id="48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0" fill="hold">
                      <p:stCondLst>
                        <p:cond delay="indefinite"/>
                      </p:stCondLst>
                      <p:childTnLst>
                        <p:par>
                          <p:cTn id="561" fill="hold">
                            <p:stCondLst>
                              <p:cond delay="0"/>
                            </p:stCondLst>
                            <p:childTnLst>
                              <p:par>
                                <p:cTn id="56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0" fill="hold">
                      <p:stCondLst>
                        <p:cond delay="indefinite"/>
                      </p:stCondLst>
                      <p:childTnLst>
                        <p:par>
                          <p:cTn id="641" fill="hold">
                            <p:stCondLst>
                              <p:cond delay="0"/>
                            </p:stCondLst>
                            <p:childTnLst>
                              <p:par>
                                <p:cTn id="64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A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ociedad-rural-san-lu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01168"/>
            <a:ext cx="658368" cy="65836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6583680" cy="384048"/>
          </a:xfrm>
          <a:prstGeom prst="roundRect">
            <a:avLst>
              <a:gd name="adj" fmla="val 8000"/>
            </a:avLst>
          </a:prstGeom>
          <a:solidFill>
            <a:srgbClr val="08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C4A35A"/>
                </a:solidFill>
                <a:latin typeface="Calibri"/>
              </a:rPr>
              <a:t>EL CRESPÍN  ·  500 ha  ·  BELGRANO  ·  MODELO DE VISITA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7498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Pasto y carga.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7F1E4"/>
                </a:solidFill>
                <a:latin typeface="Calibri"/>
              </a:rPr>
              <a:t>Verde = lo que produce el campo (no cambia). Cada clic sube la hacienda: 25 → 40 (tope INTA) → 70 vacas.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19072"/>
            <a:ext cx="2487168" cy="566928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200" b="1">
                <a:solidFill>
                  <a:srgbClr val="0D5C2C"/>
                </a:solidFill>
              </a:rPr>
              <a:t>1 · 25 vacas</a:t>
            </a:r>
          </a:p>
          <a:p>
            <a:r>
              <a:rPr sz="1100">
                <a:solidFill>
                  <a:srgbClr val="2D2016"/>
                </a:solidFill>
              </a:rPr>
              <a:t>Cabe: hay margen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719072"/>
            <a:ext cx="2487168" cy="566928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200" b="1">
                <a:solidFill>
                  <a:srgbClr val="0D5C2C"/>
                </a:solidFill>
              </a:rPr>
              <a:t>2 · 40 vacas</a:t>
            </a:r>
          </a:p>
          <a:p>
            <a:r>
              <a:rPr sz="1100">
                <a:solidFill>
                  <a:srgbClr val="2D2016"/>
                </a:solidFill>
              </a:rPr>
              <a:t>Tope del suelo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719072"/>
            <a:ext cx="2487168" cy="566928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200" b="1">
                <a:solidFill>
                  <a:srgbClr val="0D5C2C"/>
                </a:solidFill>
              </a:rPr>
              <a:t>3 · 70 vacas</a:t>
            </a:r>
          </a:p>
          <a:p>
            <a:r>
              <a:rPr sz="1100">
                <a:solidFill>
                  <a:srgbClr val="2D2016"/>
                </a:solidFill>
              </a:rPr>
              <a:t>Se pasó: intervenir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" y="2322576"/>
            <a:ext cx="7927848" cy="3447288"/>
          </a:xfrm>
          <a:prstGeom prst="roundRect">
            <a:avLst>
              <a:gd name="adj" fmla="val 8000"/>
            </a:avLst>
          </a:prstGeom>
          <a:solidFill>
            <a:srgbClr val="122A1C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2351" y="2395728"/>
            <a:ext cx="234543" cy="3063240"/>
          </a:xfrm>
          <a:prstGeom prst="roundRect">
            <a:avLst>
              <a:gd name="adj" fmla="val 15000"/>
            </a:avLst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477256"/>
            <a:ext cx="65151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C4A35A"/>
                </a:solidFill>
                <a:latin typeface="Calibri"/>
              </a:rPr>
              <a:t>Ene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3861" y="2655324"/>
            <a:ext cx="234543" cy="2803643"/>
          </a:xfrm>
          <a:prstGeom prst="roundRect">
            <a:avLst>
              <a:gd name="adj" fmla="val 15000"/>
            </a:avLst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8710" y="5477256"/>
            <a:ext cx="65151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C4A35A"/>
                </a:solidFill>
                <a:latin typeface="Calibri"/>
              </a:rPr>
              <a:t>Feb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5371" y="3174517"/>
            <a:ext cx="234543" cy="2284450"/>
          </a:xfrm>
          <a:prstGeom prst="roundRect">
            <a:avLst>
              <a:gd name="adj" fmla="val 15000"/>
            </a:avLst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60220" y="5477256"/>
            <a:ext cx="65151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C4A35A"/>
                </a:solidFill>
                <a:latin typeface="Calibri"/>
              </a:rPr>
              <a:t>Mar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76881" y="3589872"/>
            <a:ext cx="234543" cy="1869095"/>
          </a:xfrm>
          <a:prstGeom prst="roundRect">
            <a:avLst>
              <a:gd name="adj" fmla="val 15000"/>
            </a:avLst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11730" y="5477256"/>
            <a:ext cx="65151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C4A35A"/>
                </a:solidFill>
                <a:latin typeface="Calibri"/>
              </a:rPr>
              <a:t>Abr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28391" y="4031186"/>
            <a:ext cx="234543" cy="1427781"/>
          </a:xfrm>
          <a:prstGeom prst="roundRect">
            <a:avLst>
              <a:gd name="adj" fmla="val 15000"/>
            </a:avLst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5477256"/>
            <a:ext cx="65151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C4A35A"/>
                </a:solidFill>
                <a:latin typeface="Calibri"/>
              </a:rPr>
              <a:t>May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79901" y="4368662"/>
            <a:ext cx="234543" cy="1090305"/>
          </a:xfrm>
          <a:prstGeom prst="roundRect">
            <a:avLst>
              <a:gd name="adj" fmla="val 15000"/>
            </a:avLst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4750" y="5477256"/>
            <a:ext cx="65151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C4A35A"/>
                </a:solidFill>
                <a:latin typeface="Calibri"/>
              </a:rPr>
              <a:t>Jun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1411" y="4472500"/>
            <a:ext cx="234543" cy="986467"/>
          </a:xfrm>
          <a:prstGeom prst="roundRect">
            <a:avLst>
              <a:gd name="adj" fmla="val 15000"/>
            </a:avLst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6260" y="5477256"/>
            <a:ext cx="65151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C4A35A"/>
                </a:solidFill>
                <a:latin typeface="Calibri"/>
              </a:rPr>
              <a:t>Jul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82921" y="4290783"/>
            <a:ext cx="234543" cy="1168184"/>
          </a:xfrm>
          <a:prstGeom prst="roundRect">
            <a:avLst>
              <a:gd name="adj" fmla="val 15000"/>
            </a:avLst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17770" y="5477256"/>
            <a:ext cx="65151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C4A35A"/>
                </a:solidFill>
                <a:latin typeface="Calibri"/>
              </a:rPr>
              <a:t>Ago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34431" y="3693711"/>
            <a:ext cx="234543" cy="1765256"/>
          </a:xfrm>
          <a:prstGeom prst="roundRect">
            <a:avLst>
              <a:gd name="adj" fmla="val 15000"/>
            </a:avLst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5477256"/>
            <a:ext cx="65151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C4A35A"/>
                </a:solidFill>
                <a:latin typeface="Calibri"/>
              </a:rPr>
              <a:t>Sep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5941" y="3174517"/>
            <a:ext cx="234543" cy="2284450"/>
          </a:xfrm>
          <a:prstGeom prst="roundRect">
            <a:avLst>
              <a:gd name="adj" fmla="val 15000"/>
            </a:avLst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0790" y="5477256"/>
            <a:ext cx="65151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C4A35A"/>
                </a:solidFill>
                <a:latin typeface="Calibri"/>
              </a:rPr>
              <a:t>Oct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7451" y="2811082"/>
            <a:ext cx="234543" cy="2647885"/>
          </a:xfrm>
          <a:prstGeom prst="roundRect">
            <a:avLst>
              <a:gd name="adj" fmla="val 15000"/>
            </a:avLst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72300" y="5477256"/>
            <a:ext cx="65151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C4A35A"/>
                </a:solidFill>
                <a:latin typeface="Calibri"/>
              </a:rPr>
              <a:t>Nov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8961" y="2551485"/>
            <a:ext cx="234543" cy="2907482"/>
          </a:xfrm>
          <a:prstGeom prst="roundRect">
            <a:avLst>
              <a:gd name="adj" fmla="val 15000"/>
            </a:avLst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3810" y="5477256"/>
            <a:ext cx="65151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C4A35A"/>
                </a:solidFill>
                <a:latin typeface="Calibri"/>
              </a:rPr>
              <a:t>Dic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2955" y="4723790"/>
            <a:ext cx="234543" cy="735177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434465" y="4723790"/>
            <a:ext cx="234543" cy="735177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085975" y="4723790"/>
            <a:ext cx="234543" cy="735177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737485" y="4723790"/>
            <a:ext cx="234543" cy="735177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388995" y="4723790"/>
            <a:ext cx="234543" cy="735177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040505" y="4723790"/>
            <a:ext cx="234543" cy="735177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92015" y="4723790"/>
            <a:ext cx="234543" cy="735177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343525" y="4723790"/>
            <a:ext cx="234543" cy="735177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995035" y="4723790"/>
            <a:ext cx="234543" cy="735177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646545" y="4723790"/>
            <a:ext cx="234543" cy="735177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298055" y="4723790"/>
            <a:ext cx="234543" cy="735177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949565" y="4723790"/>
            <a:ext cx="234543" cy="735177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412480" y="2395728"/>
            <a:ext cx="3337560" cy="324612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46304"/>
          <a:lstStyle/>
          <a:p>
            <a:pPr algn="ctr"/>
            <a:r>
              <a:rPr sz="1200" b="1">
                <a:solidFill>
                  <a:srgbClr val="0D5C2C"/>
                </a:solidFill>
              </a:rPr>
              <a:t>Decisión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2D2016"/>
                </a:solidFill>
              </a:rPr>
              <a:t>25 vacas · el pasto cubre el año. Puede subir hacia 40 (tope INTA 12,6 ha/EV).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2955" y="4294936"/>
            <a:ext cx="234543" cy="1164031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434465" y="4294936"/>
            <a:ext cx="234543" cy="1164031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085975" y="4294936"/>
            <a:ext cx="234543" cy="1164031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737485" y="4294936"/>
            <a:ext cx="234543" cy="1164031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388995" y="4294936"/>
            <a:ext cx="234543" cy="1164031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040505" y="4294936"/>
            <a:ext cx="234543" cy="1164031"/>
          </a:xfrm>
          <a:prstGeom prst="roundRect">
            <a:avLst>
              <a:gd name="adj" fmla="val 15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692015" y="4294936"/>
            <a:ext cx="234543" cy="1164031"/>
          </a:xfrm>
          <a:prstGeom prst="roundRect">
            <a:avLst>
              <a:gd name="adj" fmla="val 15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343525" y="4294936"/>
            <a:ext cx="234543" cy="1164031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995035" y="4294936"/>
            <a:ext cx="234543" cy="1164031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646545" y="4294936"/>
            <a:ext cx="234543" cy="1164031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298055" y="4294936"/>
            <a:ext cx="234543" cy="1164031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949565" y="4294936"/>
            <a:ext cx="234543" cy="1164031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412480" y="2395728"/>
            <a:ext cx="3337560" cy="324612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46304"/>
          <a:lstStyle/>
          <a:p>
            <a:pPr algn="ctr"/>
            <a:r>
              <a:rPr sz="1200" b="1">
                <a:solidFill>
                  <a:srgbClr val="0D5C2C"/>
                </a:solidFill>
              </a:rPr>
              <a:t>Decisión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2D2016"/>
                </a:solidFill>
              </a:rPr>
              <a:t>40 vacas · tope del suelo en El Crespín. Invierno justo. No sume más sin obras.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2955" y="3559759"/>
            <a:ext cx="234543" cy="1899208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434465" y="3559759"/>
            <a:ext cx="234543" cy="1899208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085975" y="3559759"/>
            <a:ext cx="234543" cy="1899208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2737485" y="3559759"/>
            <a:ext cx="234543" cy="1899208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388995" y="3559759"/>
            <a:ext cx="234543" cy="1899208"/>
          </a:xfrm>
          <a:prstGeom prst="roundRect">
            <a:avLst>
              <a:gd name="adj" fmla="val 15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040505" y="3559759"/>
            <a:ext cx="234543" cy="1899208"/>
          </a:xfrm>
          <a:prstGeom prst="roundRect">
            <a:avLst>
              <a:gd name="adj" fmla="val 15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692015" y="3559759"/>
            <a:ext cx="234543" cy="1899208"/>
          </a:xfrm>
          <a:prstGeom prst="roundRect">
            <a:avLst>
              <a:gd name="adj" fmla="val 15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343525" y="3559759"/>
            <a:ext cx="234543" cy="1899208"/>
          </a:xfrm>
          <a:prstGeom prst="roundRect">
            <a:avLst>
              <a:gd name="adj" fmla="val 15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995035" y="3559759"/>
            <a:ext cx="234543" cy="1899208"/>
          </a:xfrm>
          <a:prstGeom prst="roundRect">
            <a:avLst>
              <a:gd name="adj" fmla="val 15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646545" y="3559759"/>
            <a:ext cx="234543" cy="1899208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298055" y="3559759"/>
            <a:ext cx="234543" cy="1899208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949565" y="3559759"/>
            <a:ext cx="234543" cy="1899208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412480" y="2395728"/>
            <a:ext cx="3337560" cy="324612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46304"/>
          <a:lstStyle/>
          <a:p>
            <a:pPr algn="ctr"/>
            <a:r>
              <a:rPr sz="1200" b="1">
                <a:solidFill>
                  <a:srgbClr val="0D5C2C"/>
                </a:solidFill>
              </a:rPr>
              <a:t>Decisión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2D2016"/>
                </a:solidFill>
              </a:rPr>
              <a:t>70 vacas · rojo en invierno. Baje ~30 o rote / diferido 1–2 ha. El pasto no cambió.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457200" y="5925312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4A35A"/>
                </a:solidFill>
                <a:latin typeface="Calibri"/>
              </a:rPr>
              <a:t>El Crespín es el modelo de la visita. En el campo del productor se lee su lote, su año y su hacienda.</a:t>
            </a:r>
          </a:p>
        </p:txBody>
      </p:sp>
      <p:sp>
        <p:nvSpPr>
          <p:cNvPr id="693" name="Rounded Rectangle 692">
            <a:hlinkClick action="ppaction://hlinksldjump" r:id="rId4"/>
          </p:cNvPr>
          <p:cNvSpPr/>
          <p:nvPr/>
        </p:nvSpPr>
        <p:spPr>
          <a:xfrm>
            <a:off x="457200" y="6327648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83A1C"/>
                </a:solidFill>
                <a:latin typeface="Calibri"/>
              </a:rPr>
              <a:t>←  Atrás</a:t>
            </a:r>
          </a:p>
        </p:txBody>
      </p:sp>
      <p:sp>
        <p:nvSpPr>
          <p:cNvPr id="694" name="Rounded Rectangle 693">
            <a:hlinkClick action="ppaction://hlinksldjump" r:id="rId3"/>
          </p:cNvPr>
          <p:cNvSpPr/>
          <p:nvPr/>
        </p:nvSpPr>
        <p:spPr>
          <a:xfrm>
            <a:off x="10515600" y="6327648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83A1C"/>
                </a:solidFill>
                <a:latin typeface="Calibri"/>
              </a:rPr>
              <a:t>Siguiente  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0" fill="hold">
                      <p:stCondLst>
                        <p:cond delay="indefinite"/>
                      </p:stCondLst>
                      <p:childTnLst>
                        <p:par>
                          <p:cTn id="481" fill="hold">
                            <p:stCondLst>
                              <p:cond delay="0"/>
                            </p:stCondLst>
                            <p:childTnLst>
                              <p:par>
                                <p:cTn id="48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indefinite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indefinite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id="49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6" fill="hold">
                      <p:stCondLst>
                        <p:cond delay="indefinite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id="4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0" fill="hold">
                      <p:stCondLst>
                        <p:cond delay="indefinite"/>
                      </p:stCondLst>
                      <p:childTnLst>
                        <p:par>
                          <p:cTn id="501" fill="hold">
                            <p:stCondLst>
                              <p:cond delay="0"/>
                            </p:stCondLst>
                            <p:childTnLst>
                              <p:par>
                                <p:cTn id="50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4" fill="hold">
                      <p:stCondLst>
                        <p:cond delay="indefinite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indefinite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indefinite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id="51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6" fill="hold">
                      <p:stCondLst>
                        <p:cond delay="indefinite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0" fill="hold">
                      <p:stCondLst>
                        <p:cond delay="indefinite"/>
                      </p:stCondLst>
                      <p:childTnLst>
                        <p:par>
                          <p:cTn id="521" fill="hold">
                            <p:stCondLst>
                              <p:cond delay="0"/>
                            </p:stCondLst>
                            <p:childTnLst>
                              <p:par>
                                <p:cTn id="5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indefinite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id="52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8" fill="hold">
                      <p:stCondLst>
                        <p:cond delay="indefinite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id="53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0" fill="hold">
                      <p:stCondLst>
                        <p:cond delay="indefinite"/>
                      </p:stCondLst>
                      <p:childTnLst>
                        <p:par>
                          <p:cTn id="561" fill="hold">
                            <p:stCondLst>
                              <p:cond delay="0"/>
                            </p:stCondLst>
                            <p:childTnLst>
                              <p:par>
                                <p:cTn id="56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4" fill="hold">
                      <p:stCondLst>
                        <p:cond delay="indefinite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indefinite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2" fill="hold">
                      <p:stCondLst>
                        <p:cond delay="indefinite"/>
                      </p:stCondLst>
                      <p:childTnLst>
                        <p:par>
                          <p:cTn id="573" fill="hold">
                            <p:stCondLst>
                              <p:cond delay="0"/>
                            </p:stCondLst>
                            <p:childTnLst>
                              <p:par>
                                <p:cTn id="57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>
                      <p:stCondLst>
                        <p:cond delay="indefinite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id="57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0" fill="hold">
                      <p:stCondLst>
                        <p:cond delay="indefinite"/>
                      </p:stCondLst>
                      <p:childTnLst>
                        <p:par>
                          <p:cTn id="581" fill="hold">
                            <p:stCondLst>
                              <p:cond delay="0"/>
                            </p:stCondLst>
                            <p:childTnLst>
                              <p:par>
                                <p:cTn id="58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4" fill="hold">
                      <p:stCondLst>
                        <p:cond delay="indefinite"/>
                      </p:stCondLst>
                      <p:childTnLst>
                        <p:par>
                          <p:cTn id="585" fill="hold">
                            <p:stCondLst>
                              <p:cond delay="0"/>
                            </p:stCondLst>
                            <p:childTnLst>
                              <p:par>
                                <p:cTn id="58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>
                      <p:stCondLst>
                        <p:cond delay="indefinite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2" fill="hold">
                      <p:stCondLst>
                        <p:cond delay="indefinite"/>
                      </p:stCondLst>
                      <p:childTnLst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par>
                                <p:cTn id="59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6" fill="hold">
                      <p:stCondLst>
                        <p:cond delay="indefinite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id="59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0" fill="hold">
                      <p:stCondLst>
                        <p:cond delay="indefinite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4" fill="hold">
                      <p:stCondLst>
                        <p:cond delay="indefinite"/>
                      </p:stCondLst>
                      <p:childTnLst>
                        <p:par>
                          <p:cTn id="605" fill="hold">
                            <p:stCondLst>
                              <p:cond delay="0"/>
                            </p:stCondLst>
                            <p:childTnLst>
                              <p:par>
                                <p:cTn id="60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8" fill="hold">
                      <p:stCondLst>
                        <p:cond delay="indefinite"/>
                      </p:stCondLst>
                      <p:childTnLst>
                        <p:par>
                          <p:cTn id="609" fill="hold">
                            <p:stCondLst>
                              <p:cond delay="0"/>
                            </p:stCondLst>
                            <p:childTnLst>
                              <p:par>
                                <p:cTn id="61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0" fill="hold">
                      <p:stCondLst>
                        <p:cond delay="indefinite"/>
                      </p:stCondLst>
                      <p:childTnLst>
                        <p:par>
                          <p:cTn id="641" fill="hold">
                            <p:stCondLst>
                              <p:cond delay="0"/>
                            </p:stCondLst>
                            <p:childTnLst>
                              <p:par>
                                <p:cTn id="64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4" fill="hold">
                      <p:stCondLst>
                        <p:cond delay="indefinite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id="646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8" fill="hold">
                      <p:stCondLst>
                        <p:cond delay="indefinite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2" fill="hold">
                      <p:stCondLst>
                        <p:cond delay="indefinite"/>
                      </p:stCondLst>
                      <p:childTnLst>
                        <p:par>
                          <p:cTn id="653" fill="hold">
                            <p:stCondLst>
                              <p:cond delay="0"/>
                            </p:stCondLst>
                            <p:childTnLst>
                              <p:par>
                                <p:cTn id="654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6" fill="hold">
                      <p:stCondLst>
                        <p:cond delay="indefinite"/>
                      </p:stCondLst>
                      <p:childTnLst>
                        <p:par>
                          <p:cTn id="657" fill="hold">
                            <p:stCondLst>
                              <p:cond delay="0"/>
                            </p:stCondLst>
                            <p:childTnLst>
                              <p:par>
                                <p:cTn id="658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0" fill="hold">
                      <p:stCondLst>
                        <p:cond delay="indefinite"/>
                      </p:stCondLst>
                      <p:childTnLst>
                        <p:par>
                          <p:cTn id="661" fill="hold">
                            <p:stCondLst>
                              <p:cond delay="0"/>
                            </p:stCondLst>
                            <p:childTnLst>
                              <p:par>
                                <p:cTn id="662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4" fill="hold">
                      <p:stCondLst>
                        <p:cond delay="indefinite"/>
                      </p:stCondLst>
                      <p:childTnLst>
                        <p:par>
                          <p:cTn id="665" fill="hold">
                            <p:stCondLst>
                              <p:cond delay="0"/>
                            </p:stCondLst>
                            <p:childTnLst>
                              <p:par>
                                <p:cTn id="666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8" fill="hold">
                      <p:stCondLst>
                        <p:cond delay="indefinite"/>
                      </p:stCondLst>
                      <p:childTnLst>
                        <p:par>
                          <p:cTn id="669" fill="hold">
                            <p:stCondLst>
                              <p:cond delay="0"/>
                            </p:stCondLst>
                            <p:childTnLst>
                              <p:par>
                                <p:cTn id="670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2" fill="hold">
                      <p:stCondLst>
                        <p:cond delay="indefinite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6" fill="hold">
                      <p:stCondLst>
                        <p:cond delay="indefinite"/>
                      </p:stCondLst>
                      <p:childTnLst>
                        <p:par>
                          <p:cTn id="677" fill="hold">
                            <p:stCondLst>
                              <p:cond delay="0"/>
                            </p:stCondLst>
                            <p:childTnLst>
                              <p:par>
                                <p:cTn id="678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0" fill="hold">
                      <p:stCondLst>
                        <p:cond delay="indefinite"/>
                      </p:stCondLst>
                      <p:childTnLst>
                        <p:par>
                          <p:cTn id="681" fill="hold">
                            <p:stCondLst>
                              <p:cond delay="0"/>
                            </p:stCondLst>
                            <p:childTnLst>
                              <p:par>
                                <p:cTn id="682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4" fill="hold">
                      <p:stCondLst>
                        <p:cond delay="indefinite"/>
                      </p:stCondLst>
                      <p:childTnLst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8" fill="hold">
                      <p:stCondLst>
                        <p:cond delay="indefinite"/>
                      </p:stCondLst>
                      <p:childTnLst>
                        <p:par>
                          <p:cTn id="689" fill="hold">
                            <p:stCondLst>
                              <p:cond delay="0"/>
                            </p:stCondLst>
                            <p:childTnLst>
                              <p:par>
                                <p:cTn id="690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A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ociedad-rural-san-lu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01168"/>
            <a:ext cx="658368" cy="65836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6583680" cy="384048"/>
          </a:xfrm>
          <a:prstGeom prst="roundRect">
            <a:avLst>
              <a:gd name="adj" fmla="val 8000"/>
            </a:avLst>
          </a:prstGeom>
          <a:solidFill>
            <a:srgbClr val="08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C4A35A"/>
                </a:solidFill>
                <a:latin typeface="Calibri"/>
              </a:rPr>
              <a:t>CÓMO SE USA  ·  UNA VISITA AL PRODUCTOR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7498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Cuatro pasos.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72768"/>
            <a:ext cx="7818120" cy="96012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792" y="1792224"/>
            <a:ext cx="475488" cy="475488"/>
          </a:xfrm>
          <a:prstGeom prst="ellipse">
            <a:avLst/>
          </a:prstGeom>
          <a:solidFill>
            <a:srgbClr val="0D5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45920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5C2C"/>
                </a:solidFill>
              </a:rPr>
              <a:t>Las 4 esquinas</a:t>
            </a:r>
          </a:p>
          <a:p>
            <a:r>
              <a:rPr sz="1200">
                <a:solidFill>
                  <a:srgbClr val="2D2016"/>
                </a:solidFill>
              </a:rPr>
              <a:t>Plano de mensura: latitud Sur y longitud Oeste (φ y λ). No use X e 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96896"/>
            <a:ext cx="7818120" cy="96012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1792" y="2816352"/>
            <a:ext cx="475488" cy="475488"/>
          </a:xfrm>
          <a:prstGeom prst="ellipse">
            <a:avLst/>
          </a:prstGeom>
          <a:solidFill>
            <a:srgbClr val="0D5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5C2C"/>
                </a:solidFill>
              </a:rPr>
              <a:t>Las aguadas</a:t>
            </a:r>
          </a:p>
          <a:p>
            <a:r>
              <a:rPr sz="1200">
                <a:solidFill>
                  <a:srgbClr val="2D2016"/>
                </a:solidFill>
              </a:rPr>
              <a:t>Toque cada represa o molino. 400 m cría · 800 m adulta. No se recorta bebida.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21024"/>
            <a:ext cx="7818120" cy="96012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" y="3840480"/>
            <a:ext cx="475488" cy="475488"/>
          </a:xfrm>
          <a:prstGeom prst="ellipse">
            <a:avLst/>
          </a:prstGeom>
          <a:solidFill>
            <a:srgbClr val="0D5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694176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5C2C"/>
                </a:solidFill>
              </a:rPr>
              <a:t>Manejo</a:t>
            </a:r>
          </a:p>
          <a:p>
            <a:r>
              <a:rPr sz="1200">
                <a:solidFill>
                  <a:srgbClr val="2D2016"/>
                </a:solidFill>
              </a:rPr>
              <a:t>Inicial, Mejorando e Ideal. En El Crespín, el calendario cruza pasto y carga mes a 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45152"/>
            <a:ext cx="7818120" cy="96012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" y="4864608"/>
            <a:ext cx="475488" cy="475488"/>
          </a:xfrm>
          <a:prstGeom prst="ellipse">
            <a:avLst/>
          </a:prstGeom>
          <a:solidFill>
            <a:srgbClr val="0D5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718304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5C2C"/>
                </a:solidFill>
              </a:rPr>
              <a:t>El informe</a:t>
            </a:r>
          </a:p>
          <a:p>
            <a:r>
              <a:rPr sz="1200">
                <a:solidFill>
                  <a:srgbClr val="2D2016"/>
                </a:solidFill>
              </a:rPr>
              <a:t>Puntos críticos. Corto y mediano plazo. En el celular se ve igual; no queda guardado.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572768"/>
            <a:ext cx="3291840" cy="3822191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/>
          <a:lstStyle/>
          <a:p>
            <a:pPr algn="ctr"/>
            <a:r>
              <a:rPr sz="1300" b="1">
                <a:solidFill>
                  <a:srgbClr val="0D5C2C"/>
                </a:solidFill>
              </a:rPr>
              <a:t>Para recordar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D2016"/>
                </a:solidFill>
              </a:rPr>
              <a:t>▸ Capas: satélite, INTA, OTBN, lluvia, forraje.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D2016"/>
                </a:solidFill>
              </a:rPr>
              <a:t>▸ Manejo: Inicial / Mejorando / Ideal.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D2016"/>
                </a:solidFill>
              </a:rPr>
              <a:t>▸ El Crespín: 25 → 40 → 70 vacas.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D2016"/>
                </a:solidFill>
              </a:rPr>
              <a:t>▸ IA: interfaz, no el núcleo.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D2016"/>
                </a:solidFill>
              </a:rPr>
              <a:t>▸ Computadora: se puede guardar.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D2016"/>
                </a:solidFill>
              </a:rPr>
              <a:t>▸ Celular: vista rápida, no guarda.</a:t>
            </a:r>
          </a:p>
        </p:txBody>
      </p:sp>
      <p:sp>
        <p:nvSpPr>
          <p:cNvPr id="18" name="Rounded Rectangle 17">
            <a:hlinkClick r:id="rId3"/>
          </p:cNvPr>
          <p:cNvSpPr/>
          <p:nvPr/>
        </p:nvSpPr>
        <p:spPr>
          <a:xfrm>
            <a:off x="8458200" y="5532120"/>
            <a:ext cx="3291840" cy="438912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83A1C"/>
                </a:solidFill>
                <a:latin typeface="Calibri"/>
              </a:rPr>
              <a:t>Abrir el gemelo</a:t>
            </a:r>
          </a:p>
        </p:txBody>
      </p:sp>
      <p:sp>
        <p:nvSpPr>
          <p:cNvPr id="19" name="Rounded Rectangle 18">
            <a:hlinkClick action="ppaction://hlinksldjump" r:id="rId4"/>
          </p:cNvPr>
          <p:cNvSpPr/>
          <p:nvPr/>
        </p:nvSpPr>
        <p:spPr>
          <a:xfrm>
            <a:off x="457200" y="6327648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83A1C"/>
                </a:solidFill>
                <a:latin typeface="Calibri"/>
              </a:rPr>
              <a:t>←  Atrás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0" fill="hold">
                      <p:stCondLst>
                        <p:cond delay="indefinite"/>
                      </p:stCondLst>
                      <p:childTnLst>
                        <p:par>
                          <p:cTn id="481" fill="hold">
                            <p:stCondLst>
                              <p:cond delay="0"/>
                            </p:stCondLst>
                            <p:childTnLst>
                              <p:par>
                                <p:cTn id="48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0" fill="hold">
                      <p:stCondLst>
                        <p:cond delay="indefinite"/>
                      </p:stCondLst>
                      <p:childTnLst>
                        <p:par>
                          <p:cTn id="561" fill="hold">
                            <p:stCondLst>
                              <p:cond delay="0"/>
                            </p:stCondLst>
                            <p:childTnLst>
                              <p:par>
                                <p:cTn id="56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0" fill="hold">
                      <p:stCondLst>
                        <p:cond delay="indefinite"/>
                      </p:stCondLst>
                      <p:childTnLst>
                        <p:par>
                          <p:cTn id="641" fill="hold">
                            <p:stCondLst>
                              <p:cond delay="0"/>
                            </p:stCondLst>
                            <p:childTnLst>
                              <p:par>
                                <p:cTn id="64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0" fill="hold">
                      <p:stCondLst>
                        <p:cond delay="indefinite"/>
                      </p:stCondLst>
                      <p:childTnLst>
                        <p:par>
                          <p:cTn id="721" fill="hold">
                            <p:stCondLst>
                              <p:cond delay="0"/>
                            </p:stCondLst>
                            <p:childTnLst>
                              <p:par>
                                <p:cTn id="722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